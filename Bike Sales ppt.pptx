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inzel" charset="1" panose="00000500000000000000"/>
      <p:regular r:id="rId24"/>
    </p:embeddedFont>
    <p:embeddedFont>
      <p:font typeface="Cinzel Bold" charset="1" panose="00000800000000000000"/>
      <p:regular r:id="rId25"/>
    </p:embeddedFont>
    <p:embeddedFont>
      <p:font typeface="Alice" charset="1" panose="00000500000000000000"/>
      <p:regular r:id="rId26"/>
    </p:embeddedFont>
    <p:embeddedFont>
      <p:font typeface="Alice Bold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8791" y="2084570"/>
            <a:ext cx="15270419" cy="324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0"/>
              </a:lnSpc>
            </a:pPr>
            <a:r>
              <a:rPr lang="en-US" sz="9293">
                <a:solidFill>
                  <a:srgbClr val="F8FAFC"/>
                </a:solidFill>
                <a:latin typeface="Cinzel"/>
                <a:ea typeface="Cinzel"/>
                <a:cs typeface="Cinzel"/>
                <a:sym typeface="Cinzel"/>
              </a:rPr>
              <a:t>Bike Purchase Behavior &amp; Customer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352885" y="8481935"/>
            <a:ext cx="65445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8FAFC"/>
                </a:solidFill>
                <a:latin typeface="Cinzel"/>
                <a:ea typeface="Cinzel"/>
                <a:cs typeface="Cinzel"/>
                <a:sym typeface="Cinzel"/>
              </a:rPr>
              <a:t>Megada Triveni  ||  05-06-2026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8963" y="3306178"/>
            <a:ext cx="2548196" cy="2388762"/>
          </a:xfrm>
          <a:custGeom>
            <a:avLst/>
            <a:gdLst/>
            <a:ahLst/>
            <a:cxnLst/>
            <a:rect r="r" b="b" t="t" l="l"/>
            <a:pathLst>
              <a:path h="2388762" w="2548196">
                <a:moveTo>
                  <a:pt x="0" y="0"/>
                </a:moveTo>
                <a:lnTo>
                  <a:pt x="2548196" y="0"/>
                </a:lnTo>
                <a:lnTo>
                  <a:pt x="2548196" y="2388762"/>
                </a:lnTo>
                <a:lnTo>
                  <a:pt x="0" y="2388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115" t="-7725" r="-13474" b="-6462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9610920" y="1980102"/>
            <a:ext cx="0" cy="74296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22950" y="3306178"/>
            <a:ext cx="3229776" cy="2522881"/>
          </a:xfrm>
          <a:custGeom>
            <a:avLst/>
            <a:gdLst/>
            <a:ahLst/>
            <a:cxnLst/>
            <a:rect r="r" b="b" t="t" l="l"/>
            <a:pathLst>
              <a:path h="2522881" w="3229776">
                <a:moveTo>
                  <a:pt x="0" y="0"/>
                </a:moveTo>
                <a:lnTo>
                  <a:pt x="3229775" y="0"/>
                </a:lnTo>
                <a:lnTo>
                  <a:pt x="3229775" y="2522881"/>
                </a:lnTo>
                <a:lnTo>
                  <a:pt x="0" y="25228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06662" y="476256"/>
            <a:ext cx="1400919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The Strategic Framework: Focus Areas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87887"/>
            <a:ext cx="8336393" cy="6025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4000">
                <a:solidFill>
                  <a:srgbClr val="0D9488"/>
                </a:solidFill>
                <a:latin typeface="Alice Bold"/>
                <a:ea typeface="Alice Bold"/>
                <a:cs typeface="Alice Bold"/>
                <a:sym typeface="Alice Bold"/>
              </a:rPr>
              <a:t>The Business Problem</a:t>
            </a:r>
          </a:p>
          <a:p>
            <a:pPr algn="ctr">
              <a:lnSpc>
                <a:spcPts val="5320"/>
              </a:lnSpc>
            </a:pPr>
          </a:p>
          <a:p>
            <a:pPr algn="ctr">
              <a:lnSpc>
                <a:spcPts val="5320"/>
              </a:lnSpc>
            </a:pPr>
          </a:p>
          <a:p>
            <a:pPr algn="ctr">
              <a:lnSpc>
                <a:spcPts val="5320"/>
              </a:lnSpc>
            </a:pPr>
          </a:p>
          <a:p>
            <a:pPr algn="ctr">
              <a:lnSpc>
                <a:spcPts val="5320"/>
              </a:lnSpc>
            </a:pPr>
          </a:p>
          <a:p>
            <a:pPr algn="ctr">
              <a:lnSpc>
                <a:spcPts val="5320"/>
              </a:lnSpc>
            </a:pPr>
          </a:p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Marketing spend suffers from diluted returns due to generic audience segmentation.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58570" y="2087887"/>
            <a:ext cx="7954213" cy="665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  <a:r>
              <a:rPr lang="en-US" sz="3800">
                <a:solidFill>
                  <a:srgbClr val="0D9488"/>
                </a:solidFill>
                <a:latin typeface="Alice Bold"/>
                <a:ea typeface="Alice Bold"/>
                <a:cs typeface="Alice Bold"/>
                <a:sym typeface="Alice Bold"/>
              </a:rPr>
              <a:t>The Analytical Goal</a:t>
            </a: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Integrate analytical findings into a dynamic, real-time Excel Dashboard that guides targeted regional expansion and sales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9360" y="1783443"/>
            <a:ext cx="7614640" cy="2079758"/>
            <a:chOff x="0" y="0"/>
            <a:chExt cx="2005502" cy="547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5502" cy="547755"/>
            </a:xfrm>
            <a:custGeom>
              <a:avLst/>
              <a:gdLst/>
              <a:ahLst/>
              <a:cxnLst/>
              <a:rect r="r" b="b" t="t" l="l"/>
              <a:pathLst>
                <a:path h="547755" w="2005502">
                  <a:moveTo>
                    <a:pt x="51852" y="0"/>
                  </a:moveTo>
                  <a:lnTo>
                    <a:pt x="1953650" y="0"/>
                  </a:lnTo>
                  <a:cubicBezTo>
                    <a:pt x="1982287" y="0"/>
                    <a:pt x="2005502" y="23215"/>
                    <a:pt x="2005502" y="51852"/>
                  </a:cubicBezTo>
                  <a:lnTo>
                    <a:pt x="2005502" y="495903"/>
                  </a:lnTo>
                  <a:cubicBezTo>
                    <a:pt x="2005502" y="509655"/>
                    <a:pt x="2000039" y="522844"/>
                    <a:pt x="1990315" y="532568"/>
                  </a:cubicBezTo>
                  <a:cubicBezTo>
                    <a:pt x="1980591" y="542292"/>
                    <a:pt x="1967402" y="547755"/>
                    <a:pt x="1953650" y="547755"/>
                  </a:cubicBezTo>
                  <a:lnTo>
                    <a:pt x="51852" y="547755"/>
                  </a:lnTo>
                  <a:cubicBezTo>
                    <a:pt x="23215" y="547755"/>
                    <a:pt x="0" y="524540"/>
                    <a:pt x="0" y="495903"/>
                  </a:cubicBezTo>
                  <a:lnTo>
                    <a:pt x="0" y="51852"/>
                  </a:lnTo>
                  <a:cubicBezTo>
                    <a:pt x="0" y="23215"/>
                    <a:pt x="23215" y="0"/>
                    <a:pt x="51852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05502" cy="585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6821" y="537527"/>
            <a:ext cx="165343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The Foundation: Global Scale &amp; Baseline KPIs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37972" y="3683791"/>
            <a:ext cx="7614640" cy="2079758"/>
            <a:chOff x="0" y="0"/>
            <a:chExt cx="2005502" cy="5477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5502" cy="547755"/>
            </a:xfrm>
            <a:custGeom>
              <a:avLst/>
              <a:gdLst/>
              <a:ahLst/>
              <a:cxnLst/>
              <a:rect r="r" b="b" t="t" l="l"/>
              <a:pathLst>
                <a:path h="547755" w="2005502">
                  <a:moveTo>
                    <a:pt x="51852" y="0"/>
                  </a:moveTo>
                  <a:lnTo>
                    <a:pt x="1953650" y="0"/>
                  </a:lnTo>
                  <a:cubicBezTo>
                    <a:pt x="1982287" y="0"/>
                    <a:pt x="2005502" y="23215"/>
                    <a:pt x="2005502" y="51852"/>
                  </a:cubicBezTo>
                  <a:lnTo>
                    <a:pt x="2005502" y="495903"/>
                  </a:lnTo>
                  <a:cubicBezTo>
                    <a:pt x="2005502" y="509655"/>
                    <a:pt x="2000039" y="522844"/>
                    <a:pt x="1990315" y="532568"/>
                  </a:cubicBezTo>
                  <a:cubicBezTo>
                    <a:pt x="1980591" y="542292"/>
                    <a:pt x="1967402" y="547755"/>
                    <a:pt x="1953650" y="547755"/>
                  </a:cubicBezTo>
                  <a:lnTo>
                    <a:pt x="51852" y="547755"/>
                  </a:lnTo>
                  <a:cubicBezTo>
                    <a:pt x="23215" y="547755"/>
                    <a:pt x="0" y="524540"/>
                    <a:pt x="0" y="495903"/>
                  </a:cubicBezTo>
                  <a:lnTo>
                    <a:pt x="0" y="51852"/>
                  </a:lnTo>
                  <a:cubicBezTo>
                    <a:pt x="0" y="23215"/>
                    <a:pt x="23215" y="0"/>
                    <a:pt x="51852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05502" cy="585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9360" y="5763548"/>
            <a:ext cx="7614640" cy="2079758"/>
            <a:chOff x="0" y="0"/>
            <a:chExt cx="2005502" cy="5477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5502" cy="547755"/>
            </a:xfrm>
            <a:custGeom>
              <a:avLst/>
              <a:gdLst/>
              <a:ahLst/>
              <a:cxnLst/>
              <a:rect r="r" b="b" t="t" l="l"/>
              <a:pathLst>
                <a:path h="547755" w="2005502">
                  <a:moveTo>
                    <a:pt x="51852" y="0"/>
                  </a:moveTo>
                  <a:lnTo>
                    <a:pt x="1953650" y="0"/>
                  </a:lnTo>
                  <a:cubicBezTo>
                    <a:pt x="1982287" y="0"/>
                    <a:pt x="2005502" y="23215"/>
                    <a:pt x="2005502" y="51852"/>
                  </a:cubicBezTo>
                  <a:lnTo>
                    <a:pt x="2005502" y="495903"/>
                  </a:lnTo>
                  <a:cubicBezTo>
                    <a:pt x="2005502" y="509655"/>
                    <a:pt x="2000039" y="522844"/>
                    <a:pt x="1990315" y="532568"/>
                  </a:cubicBezTo>
                  <a:cubicBezTo>
                    <a:pt x="1980591" y="542292"/>
                    <a:pt x="1967402" y="547755"/>
                    <a:pt x="1953650" y="547755"/>
                  </a:cubicBezTo>
                  <a:lnTo>
                    <a:pt x="51852" y="547755"/>
                  </a:lnTo>
                  <a:cubicBezTo>
                    <a:pt x="23215" y="547755"/>
                    <a:pt x="0" y="524540"/>
                    <a:pt x="0" y="495903"/>
                  </a:cubicBezTo>
                  <a:lnTo>
                    <a:pt x="0" y="51852"/>
                  </a:lnTo>
                  <a:cubicBezTo>
                    <a:pt x="0" y="23215"/>
                    <a:pt x="23215" y="0"/>
                    <a:pt x="51852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05502" cy="585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37972" y="7603407"/>
            <a:ext cx="7614640" cy="2079758"/>
            <a:chOff x="0" y="0"/>
            <a:chExt cx="2005502" cy="5477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5502" cy="547755"/>
            </a:xfrm>
            <a:custGeom>
              <a:avLst/>
              <a:gdLst/>
              <a:ahLst/>
              <a:cxnLst/>
              <a:rect r="r" b="b" t="t" l="l"/>
              <a:pathLst>
                <a:path h="547755" w="2005502">
                  <a:moveTo>
                    <a:pt x="51852" y="0"/>
                  </a:moveTo>
                  <a:lnTo>
                    <a:pt x="1953650" y="0"/>
                  </a:lnTo>
                  <a:cubicBezTo>
                    <a:pt x="1982287" y="0"/>
                    <a:pt x="2005502" y="23215"/>
                    <a:pt x="2005502" y="51852"/>
                  </a:cubicBezTo>
                  <a:lnTo>
                    <a:pt x="2005502" y="495903"/>
                  </a:lnTo>
                  <a:cubicBezTo>
                    <a:pt x="2005502" y="509655"/>
                    <a:pt x="2000039" y="522844"/>
                    <a:pt x="1990315" y="532568"/>
                  </a:cubicBezTo>
                  <a:cubicBezTo>
                    <a:pt x="1980591" y="542292"/>
                    <a:pt x="1967402" y="547755"/>
                    <a:pt x="1953650" y="547755"/>
                  </a:cubicBezTo>
                  <a:lnTo>
                    <a:pt x="51852" y="547755"/>
                  </a:lnTo>
                  <a:cubicBezTo>
                    <a:pt x="23215" y="547755"/>
                    <a:pt x="0" y="524540"/>
                    <a:pt x="0" y="495903"/>
                  </a:cubicBezTo>
                  <a:lnTo>
                    <a:pt x="0" y="51852"/>
                  </a:lnTo>
                  <a:cubicBezTo>
                    <a:pt x="0" y="23215"/>
                    <a:pt x="23215" y="0"/>
                    <a:pt x="51852" y="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05502" cy="5858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651076" y="1811057"/>
            <a:ext cx="5371207" cy="1872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Total Sample Size</a:t>
            </a:r>
          </a:p>
          <a:p>
            <a:pPr algn="ctr">
              <a:lnSpc>
                <a:spcPts val="7546"/>
              </a:lnSpc>
              <a:spcBef>
                <a:spcPct val="0"/>
              </a:spcBef>
            </a:pPr>
            <a:r>
              <a:rPr lang="en-US" sz="539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1,000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35690" y="3734915"/>
            <a:ext cx="4819204" cy="187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Total Bikes Sold</a:t>
            </a:r>
          </a:p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4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481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69541" y="5823622"/>
            <a:ext cx="7574459" cy="185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Baseline Conversion Rate</a:t>
            </a:r>
          </a:p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4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48.10%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6381" y="7663481"/>
            <a:ext cx="6357640" cy="185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Top Market Indicator</a:t>
            </a:r>
          </a:p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sz="54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5</a:t>
            </a:r>
            <a:r>
              <a:rPr lang="en-US" sz="5400">
                <a:solidFill>
                  <a:srgbClr val="F8FAFC"/>
                </a:solidFill>
                <a:latin typeface="Alice Bold"/>
                <a:ea typeface="Alice Bold"/>
                <a:cs typeface="Alice Bold"/>
                <a:sym typeface="Alice Bold"/>
              </a:rPr>
              <a:t>8.85%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42869" y="1179034"/>
            <a:ext cx="9588793" cy="5038227"/>
          </a:xfrm>
          <a:custGeom>
            <a:avLst/>
            <a:gdLst/>
            <a:ahLst/>
            <a:cxnLst/>
            <a:rect r="r" b="b" t="t" l="l"/>
            <a:pathLst>
              <a:path h="5038227" w="9588793">
                <a:moveTo>
                  <a:pt x="0" y="0"/>
                </a:moveTo>
                <a:lnTo>
                  <a:pt x="9588793" y="0"/>
                </a:lnTo>
                <a:lnTo>
                  <a:pt x="9588793" y="5038227"/>
                </a:lnTo>
                <a:lnTo>
                  <a:pt x="0" y="5038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853" r="0" b="-39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180408" y="6187572"/>
            <a:ext cx="14449797" cy="332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Golden Segment (31–40): Converts at an exceptional 61.08%, making up the largest sales volume (193 bikes).</a:t>
            </a:r>
          </a:p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Bookend Drop-offs: Seniors (&gt;60) convert at only 30.00%, while young adults under 30 drop down to 35.45%.</a:t>
            </a:r>
          </a:p>
          <a:p>
            <a:pPr algn="just">
              <a:lnSpc>
                <a:spcPts val="532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224733" y="235903"/>
            <a:ext cx="1122506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Age Brackets vs. Purchase Rate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2117" y="1131044"/>
            <a:ext cx="9272411" cy="4787682"/>
          </a:xfrm>
          <a:custGeom>
            <a:avLst/>
            <a:gdLst/>
            <a:ahLst/>
            <a:cxnLst/>
            <a:rect r="r" b="b" t="t" l="l"/>
            <a:pathLst>
              <a:path h="4787682" w="9272411">
                <a:moveTo>
                  <a:pt x="0" y="0"/>
                </a:moveTo>
                <a:lnTo>
                  <a:pt x="9272411" y="0"/>
                </a:lnTo>
                <a:lnTo>
                  <a:pt x="9272411" y="4787682"/>
                </a:lnTo>
                <a:lnTo>
                  <a:pt x="0" y="4787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754" r="0" b="-566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91402" y="141605"/>
            <a:ext cx="1191384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Ave</a:t>
            </a: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rage Income &amp; Gender 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7352" y="5935345"/>
            <a:ext cx="15073295" cy="332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Male Premium: Male buyers require a higher average income threshold, converting at $60,124 </a:t>
            </a: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Consistent Female Base: Female buyers convert at a lower average income threshold of $55,774, maintaining a slightly higher overall rate of 48.88%.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76602" y="1245184"/>
            <a:ext cx="7947236" cy="4277169"/>
          </a:xfrm>
          <a:custGeom>
            <a:avLst/>
            <a:gdLst/>
            <a:ahLst/>
            <a:cxnLst/>
            <a:rect r="r" b="b" t="t" l="l"/>
            <a:pathLst>
              <a:path h="4277169" w="7947236">
                <a:moveTo>
                  <a:pt x="0" y="0"/>
                </a:moveTo>
                <a:lnTo>
                  <a:pt x="7947236" y="0"/>
                </a:lnTo>
                <a:lnTo>
                  <a:pt x="7947236" y="4277169"/>
                </a:lnTo>
                <a:lnTo>
                  <a:pt x="0" y="4277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308" r="0" b="-492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86924" y="294005"/>
            <a:ext cx="1362759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Purchase Rates by Commute Distance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500712"/>
            <a:ext cx="16443039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2–5 Mile Peak (58.64%): Slightly too long to walk, making the bicycle an ideal utility replacement for car or transit travel.</a:t>
            </a:r>
          </a:p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0–1 Mile Anchor (54.64%): Highly responsive group utilizing bikes for quick local errands.</a:t>
            </a: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5-Mile Fatigue Wall: Conversions plummet to 29.73% once commutes cross the 10-mile threshold.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3603" y="1698010"/>
            <a:ext cx="10732890" cy="4625300"/>
          </a:xfrm>
          <a:custGeom>
            <a:avLst/>
            <a:gdLst/>
            <a:ahLst/>
            <a:cxnLst/>
            <a:rect r="r" b="b" t="t" l="l"/>
            <a:pathLst>
              <a:path h="4625300" w="10732890">
                <a:moveTo>
                  <a:pt x="0" y="0"/>
                </a:moveTo>
                <a:lnTo>
                  <a:pt x="10732890" y="0"/>
                </a:lnTo>
                <a:lnTo>
                  <a:pt x="10732890" y="4625300"/>
                </a:lnTo>
                <a:lnTo>
                  <a:pt x="0" y="462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592" r="0" b="-169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13603" y="446405"/>
            <a:ext cx="108790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Bike Purchases by Occupation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86359" y="6602095"/>
            <a:ext cx="14933526" cy="265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Professional Vanguard: White-collar creative/technical rol</a:t>
            </a: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es lead conversion at 54.35% (150 total purchases).</a:t>
            </a: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Management Gap: Management represents the lowest conversion rate (42.20%), identifying a key unaddressed segment.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33224" y="1469557"/>
            <a:ext cx="7821551" cy="3999050"/>
          </a:xfrm>
          <a:custGeom>
            <a:avLst/>
            <a:gdLst/>
            <a:ahLst/>
            <a:cxnLst/>
            <a:rect r="r" b="b" t="t" l="l"/>
            <a:pathLst>
              <a:path h="3999050" w="7821551">
                <a:moveTo>
                  <a:pt x="0" y="0"/>
                </a:moveTo>
                <a:lnTo>
                  <a:pt x="7821552" y="0"/>
                </a:lnTo>
                <a:lnTo>
                  <a:pt x="7821552" y="3999050"/>
                </a:lnTo>
                <a:lnTo>
                  <a:pt x="0" y="399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00" r="0" b="-443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57725" y="389255"/>
            <a:ext cx="89725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Domestic Demographics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2711" y="5576089"/>
            <a:ext cx="16722579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Single Lifestyle Booster: Single prospects convert at a high rate of 54.11% (250 sales), compared to Married prospects at 42.94%.</a:t>
            </a:r>
          </a:p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One-Child Peak Sweet Spot: Households with exactly 1 child lead conversion at 57.40%.</a:t>
            </a: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Big Family Drop: Having 5 children causes conversion to plummet to a low of  22.22%.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01471" y="1622457"/>
            <a:ext cx="8885058" cy="4585083"/>
          </a:xfrm>
          <a:custGeom>
            <a:avLst/>
            <a:gdLst/>
            <a:ahLst/>
            <a:cxnLst/>
            <a:rect r="r" b="b" t="t" l="l"/>
            <a:pathLst>
              <a:path h="4585083" w="8885058">
                <a:moveTo>
                  <a:pt x="0" y="0"/>
                </a:moveTo>
                <a:lnTo>
                  <a:pt x="8885058" y="0"/>
                </a:lnTo>
                <a:lnTo>
                  <a:pt x="8885058" y="4585083"/>
                </a:lnTo>
                <a:lnTo>
                  <a:pt x="0" y="4585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296" r="0" b="-555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66131" y="541655"/>
            <a:ext cx="152605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Vehicle Ownership vs. Bike Purchase Rates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1558" y="6315522"/>
            <a:ext cx="15185111" cy="265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0-1 Car Threshold: Owning 0 cars (61.13%) or 1 car (56.93%) correlates with highly motivated buyers.</a:t>
            </a: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2+ Car Drop: The moment a household scales to 2 or more cars, conversion rates drop sharply to 36.12%.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22103" y="1424623"/>
            <a:ext cx="7259626" cy="5324149"/>
          </a:xfrm>
          <a:custGeom>
            <a:avLst/>
            <a:gdLst/>
            <a:ahLst/>
            <a:cxnLst/>
            <a:rect r="r" b="b" t="t" l="l"/>
            <a:pathLst>
              <a:path h="5324149" w="7259626">
                <a:moveTo>
                  <a:pt x="0" y="0"/>
                </a:moveTo>
                <a:lnTo>
                  <a:pt x="7259627" y="0"/>
                </a:lnTo>
                <a:lnTo>
                  <a:pt x="7259627" y="5324148"/>
                </a:lnTo>
                <a:lnTo>
                  <a:pt x="0" y="53241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73" t="-19951" r="-19638" b="-472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35361" y="537527"/>
            <a:ext cx="144172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Home Ownership vs. Purchase Decisions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38900" y="6831323"/>
            <a:ext cx="14318539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Homeowner Stability Booster: Home ownership boosts clerical and manual purchase rates, but actually decreases management purchase rates.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6500" y="1643172"/>
            <a:ext cx="8489285" cy="4355027"/>
          </a:xfrm>
          <a:custGeom>
            <a:avLst/>
            <a:gdLst/>
            <a:ahLst/>
            <a:cxnLst/>
            <a:rect r="r" b="b" t="t" l="l"/>
            <a:pathLst>
              <a:path h="4355027" w="8489285">
                <a:moveTo>
                  <a:pt x="0" y="0"/>
                </a:moveTo>
                <a:lnTo>
                  <a:pt x="8489285" y="0"/>
                </a:lnTo>
                <a:lnTo>
                  <a:pt x="8489285" y="4355027"/>
                </a:lnTo>
                <a:lnTo>
                  <a:pt x="0" y="4355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859" r="0" b="-562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7799" y="537527"/>
            <a:ext cx="1445240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Education Level vs. Purchase Decisions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51444" y="6131023"/>
            <a:ext cx="15903533" cy="265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High-Performing Tiers: Bachelors Degree holders lead conversion at 55.23%, with Graduate Degree holders close behind at 54.02%.</a:t>
            </a: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The Partial High School Drop-off: Conversions drop significantly to only 26.32% among those with partial high school education.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4012" y="1424623"/>
            <a:ext cx="10285626" cy="4473388"/>
          </a:xfrm>
          <a:custGeom>
            <a:avLst/>
            <a:gdLst/>
            <a:ahLst/>
            <a:cxnLst/>
            <a:rect r="r" b="b" t="t" l="l"/>
            <a:pathLst>
              <a:path h="4473388" w="10285626">
                <a:moveTo>
                  <a:pt x="0" y="0"/>
                </a:moveTo>
                <a:lnTo>
                  <a:pt x="10285626" y="0"/>
                </a:lnTo>
                <a:lnTo>
                  <a:pt x="10285626" y="4473387"/>
                </a:lnTo>
                <a:lnTo>
                  <a:pt x="0" y="4473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74" t="-29994" r="-2174" b="-1839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4726" y="413702"/>
            <a:ext cx="1382419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Purchase Volatility by Marital Status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350" y="6186931"/>
            <a:ext cx="16744950" cy="332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1" indent="-410210" lvl="1">
              <a:lnSpc>
                <a:spcPts val="5320"/>
              </a:lnSpc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Single prospects represent your highest-converting segment at 54.1% (250 sales), presenting a highly agile market with fewer shared household expenses .</a:t>
            </a:r>
          </a:p>
          <a:p>
            <a:pPr algn="just" marL="820421" indent="-410210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Married households see conversion drop significantly to 42.9% (an 11.2% performance gap), indicating the domestic financial obligations.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7300" y="1424623"/>
            <a:ext cx="9427048" cy="4813721"/>
          </a:xfrm>
          <a:custGeom>
            <a:avLst/>
            <a:gdLst/>
            <a:ahLst/>
            <a:cxnLst/>
            <a:rect r="r" b="b" t="t" l="l"/>
            <a:pathLst>
              <a:path h="4813721" w="9427048">
                <a:moveTo>
                  <a:pt x="0" y="0"/>
                </a:moveTo>
                <a:lnTo>
                  <a:pt x="9427048" y="0"/>
                </a:lnTo>
                <a:lnTo>
                  <a:pt x="9427048" y="4813720"/>
                </a:lnTo>
                <a:lnTo>
                  <a:pt x="0" y="4813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395" r="0" b="-511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3844" y="537527"/>
            <a:ext cx="155101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Average Income by Gender &amp; Bike Purchase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3844" y="6283423"/>
            <a:ext cx="15903533" cy="332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For both genders, bike buyers possess a higher financial baseline than non-buyers. Male purchasers command the highest premium with an average income of $60,124 (compared to $56,208 for male non-buyers), proving that higher disposable income directly unlocks purchasing intent.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82762" y="1425721"/>
            <a:ext cx="9122476" cy="4660096"/>
          </a:xfrm>
          <a:custGeom>
            <a:avLst/>
            <a:gdLst/>
            <a:ahLst/>
            <a:cxnLst/>
            <a:rect r="r" b="b" t="t" l="l"/>
            <a:pathLst>
              <a:path h="4660096" w="9122476">
                <a:moveTo>
                  <a:pt x="0" y="0"/>
                </a:moveTo>
                <a:lnTo>
                  <a:pt x="9122476" y="0"/>
                </a:lnTo>
                <a:lnTo>
                  <a:pt x="9122476" y="4660095"/>
                </a:lnTo>
                <a:lnTo>
                  <a:pt x="0" y="466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196" r="0" b="-53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50534" y="326526"/>
            <a:ext cx="1258609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Purchase patterns Vs age brackets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0567" y="6212191"/>
            <a:ext cx="15903533" cy="332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For both genders, bike buyers possess a higher financial baseline than non-buyers. Male purchasers command the highest premium with an average income of $60,124 (compared to $56,208 for male non-buyers), proving that higher disposable income directly unlocks purchasing intent.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2000" y="1028700"/>
            <a:ext cx="10824156" cy="9033603"/>
          </a:xfrm>
          <a:custGeom>
            <a:avLst/>
            <a:gdLst/>
            <a:ahLst/>
            <a:cxnLst/>
            <a:rect r="r" b="b" t="t" l="l"/>
            <a:pathLst>
              <a:path h="9033603" w="10824156">
                <a:moveTo>
                  <a:pt x="0" y="0"/>
                </a:moveTo>
                <a:lnTo>
                  <a:pt x="10824156" y="0"/>
                </a:lnTo>
                <a:lnTo>
                  <a:pt x="10824156" y="9033603"/>
                </a:lnTo>
                <a:lnTo>
                  <a:pt x="0" y="9033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8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32330" y="141605"/>
            <a:ext cx="409098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DashBoard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33470" y="1357915"/>
            <a:ext cx="4826425" cy="3258755"/>
          </a:xfrm>
          <a:custGeom>
            <a:avLst/>
            <a:gdLst/>
            <a:ahLst/>
            <a:cxnLst/>
            <a:rect r="r" b="b" t="t" l="l"/>
            <a:pathLst>
              <a:path h="3258755" w="4826425">
                <a:moveTo>
                  <a:pt x="0" y="0"/>
                </a:moveTo>
                <a:lnTo>
                  <a:pt x="4826425" y="0"/>
                </a:lnTo>
                <a:lnTo>
                  <a:pt x="4826425" y="3258756"/>
                </a:lnTo>
                <a:lnTo>
                  <a:pt x="0" y="3258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952" r="-1275" b="-637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5895" y="5361056"/>
            <a:ext cx="5389259" cy="3486648"/>
          </a:xfrm>
          <a:custGeom>
            <a:avLst/>
            <a:gdLst/>
            <a:ahLst/>
            <a:cxnLst/>
            <a:rect r="r" b="b" t="t" l="l"/>
            <a:pathLst>
              <a:path h="3486648" w="5389259">
                <a:moveTo>
                  <a:pt x="0" y="0"/>
                </a:moveTo>
                <a:lnTo>
                  <a:pt x="5389260" y="0"/>
                </a:lnTo>
                <a:lnTo>
                  <a:pt x="5389260" y="3486648"/>
                </a:lnTo>
                <a:lnTo>
                  <a:pt x="0" y="3486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261" t="0" r="-1651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67899" y="294005"/>
            <a:ext cx="67246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5895" y="1470165"/>
            <a:ext cx="8821463" cy="333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0D9488"/>
                </a:solidFill>
                <a:latin typeface="Alice Bold"/>
                <a:ea typeface="Alice Bold"/>
                <a:cs typeface="Alice Bold"/>
                <a:sym typeface="Alice Bold"/>
              </a:rPr>
              <a:t>Prioritize High-Conversion Niches:</a:t>
            </a:r>
            <a:r>
              <a:rPr lang="en-US" sz="3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Shift marketing resources away from low-performing clusters and focus heavily on Professionals and Single customers 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11933" y="5087125"/>
            <a:ext cx="8961232" cy="399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0D9488"/>
                </a:solidFill>
                <a:latin typeface="Alice Bold"/>
                <a:ea typeface="Alice Bold"/>
                <a:cs typeface="Alice Bold"/>
                <a:sym typeface="Alice Bold"/>
              </a:rPr>
              <a:t>Launch Regional Aggressive Campaigns: </a:t>
            </a:r>
          </a:p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Target the Pacific region, which represents our highest-performing market with a remarkable 58.9% conversion rate (113 sales out of 192 total prospects)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37093" y="1552066"/>
            <a:ext cx="5592079" cy="3050225"/>
          </a:xfrm>
          <a:custGeom>
            <a:avLst/>
            <a:gdLst/>
            <a:ahLst/>
            <a:cxnLst/>
            <a:rect r="r" b="b" t="t" l="l"/>
            <a:pathLst>
              <a:path h="3050225" w="5592079">
                <a:moveTo>
                  <a:pt x="0" y="0"/>
                </a:moveTo>
                <a:lnTo>
                  <a:pt x="5592079" y="0"/>
                </a:lnTo>
                <a:lnTo>
                  <a:pt x="5592079" y="3050225"/>
                </a:lnTo>
                <a:lnTo>
                  <a:pt x="0" y="3050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74687" y="1552066"/>
            <a:ext cx="3357098" cy="3050225"/>
          </a:xfrm>
          <a:custGeom>
            <a:avLst/>
            <a:gdLst/>
            <a:ahLst/>
            <a:cxnLst/>
            <a:rect r="r" b="b" t="t" l="l"/>
            <a:pathLst>
              <a:path h="3050225" w="3357098">
                <a:moveTo>
                  <a:pt x="0" y="0"/>
                </a:moveTo>
                <a:lnTo>
                  <a:pt x="3357097" y="0"/>
                </a:lnTo>
                <a:lnTo>
                  <a:pt x="3357097" y="3050225"/>
                </a:lnTo>
                <a:lnTo>
                  <a:pt x="0" y="30502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619" t="0" r="0" b="-585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90460" y="446405"/>
            <a:ext cx="43843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8009" y="4873130"/>
            <a:ext cx="7695991" cy="466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0D9488"/>
                </a:solidFill>
                <a:latin typeface="Alice Bold"/>
                <a:ea typeface="Alice Bold"/>
                <a:cs typeface="Alice Bold"/>
                <a:sym typeface="Alice Bold"/>
              </a:rPr>
              <a:t>The Demographics of Intent:</a:t>
            </a:r>
          </a:p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Bike purchase decisions are heavily dictated by lifestyle constraints. The core of our commercial volume rests on the 32–54 age bracket (contributing 375 sales / 55.5% conversion)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10573" y="4873130"/>
            <a:ext cx="6885326" cy="333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sz="3900">
                <a:solidFill>
                  <a:srgbClr val="0D9488"/>
                </a:solidFill>
                <a:latin typeface="Alice Bold"/>
                <a:ea typeface="Alice Bold"/>
                <a:cs typeface="Alice Bold"/>
                <a:sym typeface="Alice Bold"/>
              </a:rPr>
              <a:t>The Asset Threshold:</a:t>
            </a:r>
            <a:r>
              <a:rPr lang="en-US" sz="39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</a:t>
            </a:r>
          </a:p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Operational data reveals that micro-mobility assets act as a direct alternative to vehicle congestion. 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9577286" y="1729656"/>
            <a:ext cx="0" cy="75286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28123" y="3841663"/>
            <a:ext cx="40317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DAHLr17o3Jg</dc:identifier>
  <dcterms:modified xsi:type="dcterms:W3CDTF">2011-08-01T06:04:30Z</dcterms:modified>
  <cp:revision>1</cp:revision>
  <dc:title>Bike Sales ppt</dc:title>
</cp:coreProperties>
</file>